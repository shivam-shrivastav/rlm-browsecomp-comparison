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1675"/>
  <p:notesSz cx="6858000" cy="9144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Fraunces"/>
      <p:regular r:id="rId21"/>
      <p:bold r:id="rId22"/>
      <p:italic r:id="rId23"/>
      <p:boldItalic r:id="rId24"/>
    </p:embeddedFont>
    <p:embeddedFont>
      <p:font typeface="IBM Plex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F45BEA-F915-41D0-8042-7BC0F4C1D214}">
  <a:tblStyle styleId="{0FF45BEA-F915-41D0-8042-7BC0F4C1D2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Italic.fntdata"/><Relationship Id="rId22" Type="http://schemas.openxmlformats.org/officeDocument/2006/relationships/font" Target="fonts/Fraunces-bold.fntdata"/><Relationship Id="rId21" Type="http://schemas.openxmlformats.org/officeDocument/2006/relationships/font" Target="fonts/Fraunces-regular.fntdata"/><Relationship Id="rId24" Type="http://schemas.openxmlformats.org/officeDocument/2006/relationships/font" Target="fonts/Fraunces-boldItalic.fntdata"/><Relationship Id="rId23" Type="http://schemas.openxmlformats.org/officeDocument/2006/relationships/font" Target="fonts/Fraunce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BMPlexMono-bold.fntdata"/><Relationship Id="rId25" Type="http://schemas.openxmlformats.org/officeDocument/2006/relationships/font" Target="fonts/IBMPlexMono-regular.fntdata"/><Relationship Id="rId28" Type="http://schemas.openxmlformats.org/officeDocument/2006/relationships/font" Target="fonts/IBMPlexMono-boldItalic.fntdata"/><Relationship Id="rId27" Type="http://schemas.openxmlformats.org/officeDocument/2006/relationships/font" Target="fonts/IBMPlex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BMPlexSans-regular.fntdata"/><Relationship Id="rId16" Type="http://schemas.openxmlformats.org/officeDocument/2006/relationships/slide" Target="slides/slide10.xml"/><Relationship Id="rId19" Type="http://schemas.openxmlformats.org/officeDocument/2006/relationships/font" Target="fonts/IBMPlexSans-italic.fntdata"/><Relationship Id="rId18" Type="http://schemas.openxmlformats.org/officeDocument/2006/relationships/font" Target="fonts/IBMPlex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separate failure modes motivate three separate RLM mechanisms later: the symbolic handle fixes the window; selective load fixes the U-curve; recursion fixes cross-document reasoning. Cite Lost in the Middle (Liu et al. 2023) for the U-curve and context rot (Hong et al. 2025, cited in the RLM paper). The speaker's opening example: 300 Lex-Fridman transcripts, ~30-40M chars, 'what did the first 10 ML guests say about AGI?' Sources: RLM paper §1, Fig 1; transcript 00:00-00:02.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Stress scaffold — RLM is a wrapper, not a retraining; rlm.completion() directly replaces gpt.completion(). The five bullets are the video's distilled definition; the three boxes are the paper's sharper formal framing. If they remember one thing: prompt-as-environment + choose-what-to-see. Symbolic recursion enables Ω(|P|) or even Ω(|P|²) semantic work. Sources: RLM paper §2-3; transcript 00:04-00:07.</a:t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Jupyter-with-first-cell-hidden intuition: print(context[:500]) → find where the CSV starts → loop and print 200 chars/line. The model gradually discovers structure, like a human. Engineering: needs a sandboxed persistent Python runtime. The video used Deno + Pyodide (WASM); alternatives: Docker (slow boot), python-restricted (no isolation), remote sandboxes. Inspired by DSPy's dsp.rlm. Sources: RLM paper §3; transcript 00:07-00:11.</a:t>
            </a:r>
            <a:endParaRPr/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slide the speaker returns to repeatedly. In a typical agent, a sub-agent's verbose reasoning floods the parent window, recreating the long-context problem. In an RLM, r = llm_query(...) returns a Python object; the parent may print a slice, feed it forward, or hand it to FINAL_VAR — all without ingesting intermediate steps. Second-order benefit: sub-agents keep their own message history, so their prefix sits in the provider's KV cache; repeated sub-calls hit cache and cost drops. Sub-agents currently share no state — an open limitation. Sources: RLM paper §3; transcript 00:17-00:25.</a:t>
            </a:r>
            <a:endParaRPr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truncation point is subtle and load-bearing — without it, a model could print(context) and drag the whole problem back into its window. The paper: 'it forces M to rely on variables and sub-calls to manage long strings instead of polluting its window.' ≤ c tokens/turn ⇒ ≤ K/c iterations. Flag the brittleness: the FINAL/FINAL_VAR mechanism confuses models (16% of training turns mis-used it) — part of why the authors fine-tuned RLM-Qwen3-8B. Engineering: root uses a stronger model, sub-agents a cheaper one; depth-limit throws a hard error to cap spend. Sources: RLM paper §3 (Algorithm 1); transcript 00:32-00:35, 00:42-00:44.</a:t>
            </a:r>
            <a:endParaRPr/>
          </a:p>
        </p:txBody>
      </p:sp>
      <p:sp>
        <p:nvSpPr>
          <p:cNvPr id="168" name="Google Shape;16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fruit example is the perfect one-liner: 'generate 50 fruits, count the r's, return a dict.' A stock LLM autoregressively emits {apple:0, banana:0...} and miscounts; the RLM builds the dict in Python and an assert catches when it generated 51, forcing a re-roll. General lesson: code execution is a verifiable path; generation is a guessable one. The cost asymmetry — reading cheap &amp; parallel, writing dear &amp; token-by-token — means RLMs read selectively and write little code. Sources: transcript 00:11-00:17; RLM paper §4.</a:t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paper frames these as discovered, not programmed: 'RLMs exhibit strategies like peeking, grepping, partition+map, and summarization — all discovered without explicit training.' Tie to complexity classes: O(n) tasks invite partition+map; O(n²) tasks invite pairwise sub-calls. The video's story example shows it live: search 'envoy' → broaden to 'envoy, fiancé, Saul, money' → narrow to a section → recurse to a sub-agent → answer. That these emerge from a system prompt is what makes RLM a paradigm, not a trained model. Sources: RLM paper §4; blog; transcript 00:25-00:27.</a:t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cleanest framing from the paper: RAG/ReAct/CodeAct/compaction all decompose from a task perspective and pour intermediates back into context; RLM decomposes from a context perspective and keeps intermediates symbolic. You can stack RAG before RLM (retrieve, then let RLM reason over the retrieved string). Two real advantages: (1) RLM keeps causal/order relationships because code indexes position — RAG loses this unless you annotate chunks; (2) RLM's selective load is robust to 99% irrelevant input by construction. Caveat: on tasks that fit the window and aren't complex, Claude-Code+offloading is competitive. Sources: RLM paper §5; blog; transcript 00:46-00:48.</a:t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complexity-class chart is the single most persuasive figure: the vanilla-model curve falls off a cliff exactly where RLM stays flat. Headline: on a 10M-token BrowseComp+ task, GPT-5 scores zero (can't run), RLM scores 91.3%. Be honest about nuance: depth-3 hurts CodeQA (over-recursion, 58 vs 62); Claude-Code+offloading ties RLM on CodeQA (62) and edges it on BrowseComp (94 vs 91.3). RLM's dominance is most decisive on O(n²) and ultra-long inputs, not universal. Cost: lead with 'median cheaper,' always add the tail-variance caveat. RLM-Qwen3-8B (+28% median, 3× faster, 48 H100-hrs) shows the paradigm can be learned. Sources: RLM paper Table 1 &amp; Fig 1; blog; transcript 00:46-00:49.</a:t>
            </a:r>
            <a:endParaRPr/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with the decision framework and the paper's thesis: RLMs are a new axis of inference-time scaling — the next step after chain-of-thought and ReAct — because they decouple useful semantic work from the context window. Practical guidance: keep RAG as a pre-filter when helpful; pick a strong coding model for the root (video used GLM-5 / MiniMax-M2.5; Opus-class also works) and a cheaper model for sub-calls; tune the system prompt per model. Don't deploy RLMs where a single in-window call suffices. Research frontier: recursion can be baked into weights. Sources: RLM paper §1, §5, §6; transcript 00:46-00:49.</a:t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MOTIVATION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context window · K tokens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The Long-Context Problem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02920" y="15727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Feed an LM millions of documents and ask one cross-document question. It fails in three distinct, well-documented ways.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02920" y="224028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Fixed window.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model has a hard context cap; beyond it, input cannot be processed at all.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Lost in the middle.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Retrieval follows a U-shaped curve — start and end are recalled, the middle degrades.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Context rot.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When ~95% of a prompt is irrelevant, the noise drives hallucination.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9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gap 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RAG, ReAct, CodeAct, sub-agent stacks help — but inherit the window and load sub-agent noise into the parent.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6446520" y="2148840"/>
            <a:ext cx="5257800" cy="196596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11112" y="2258568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Recall accuracy vs. position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692640" y="22585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U-curve</a:t>
            </a:r>
            <a:endParaRPr/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1112" y="2606040"/>
            <a:ext cx="4928616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6446520" y="4297680"/>
            <a:ext cx="5257800" cy="146304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611112" y="4407408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Relevance of a typical long prompt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692640" y="44074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context rot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6611112" y="4864608"/>
            <a:ext cx="246430" cy="23774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857542" y="4864608"/>
            <a:ext cx="4682185" cy="237744"/>
          </a:xfrm>
          <a:prstGeom prst="rect">
            <a:avLst/>
          </a:prstGeom>
          <a:solidFill>
            <a:srgbClr val="6C73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611112" y="5230368"/>
            <a:ext cx="49286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2C97A"/>
                </a:solidFill>
                <a:latin typeface="IBM Plex Mono"/>
                <a:ea typeface="IBM Plex Mono"/>
                <a:cs typeface="IBM Plex Mono"/>
                <a:sym typeface="IBM Plex Mono"/>
              </a:rPr>
              <a:t>5% relevant  ·  </a:t>
            </a: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95% noise → hallucination</a:t>
            </a:r>
            <a:endParaRPr/>
          </a:p>
        </p:txBody>
      </p:sp>
      <p:cxnSp>
        <p:nvCxnSpPr>
          <p:cNvPr id="100" name="Google Shape;100;p13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3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Long inputs break LLMs three ways — and every existing fix still inherits the window.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CONCEPT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scaffold · inference-time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What is an </a:t>
            </a:r>
            <a:r>
              <a:rPr b="0" i="1" lang="en-US" sz="3000" u="none" cap="none" strike="noStrike">
                <a:solidFill>
                  <a:srgbClr val="A6A092"/>
                </a:solidFill>
                <a:latin typeface="Fraunces"/>
                <a:ea typeface="Fraunces"/>
                <a:cs typeface="Fraunces"/>
                <a:sym typeface="Fraunces"/>
              </a:rPr>
              <a:t>RLM</a:t>
            </a: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?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02920" y="15727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 inference-time scaffold, not a new model. The long prompt lives as a variable in a REPL; the LM writes code to explore it and recurses on slices.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02920" y="2240280"/>
            <a:ext cx="5760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Prompt = environment.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P is stored in a Python REPL, not the context window. The model sees only metadata.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Code-driven exploration. </a:t>
            </a:r>
            <a:r>
              <a:rPr b="0" i="1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peeks, greps, decomposes, transforms — and chooses what to load.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Recursive sub-calls.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Spawns sub-LLMs on strategic sub-regions of P.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Symbolic returns. </a:t>
            </a:r>
            <a:r>
              <a:rPr b="0" i="1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Sub-agent answers come back as variables, not text dumped into context.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Two output modes.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Generate an answer, or build it in a variable and return that.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6537960" y="2240280"/>
            <a:ext cx="5166360" cy="338328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702552" y="2350008"/>
            <a:ext cx="48371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formal design choices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692640" y="23500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Zhang·Kraska·Khattab, MIT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6702552" y="2743200"/>
            <a:ext cx="4837176" cy="86868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C97A"/>
                </a:solidFill>
                <a:latin typeface="IBM Plex Sans"/>
                <a:ea typeface="IBM Plex Sans"/>
                <a:cs typeface="IBM Plex Sans"/>
                <a:sym typeface="IBM Plex Sans"/>
              </a:rPr>
              <a:t>① symbolic handle to P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prompt lives in the environment, not the window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702552" y="3794760"/>
            <a:ext cx="4837176" cy="86868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6D6C2"/>
                </a:solidFill>
                <a:latin typeface="IBM Plex Sans"/>
                <a:ea typeface="IBM Plex Sans"/>
                <a:cs typeface="IBM Plex Sans"/>
                <a:sym typeface="IBM Plex Sans"/>
              </a:rPr>
              <a:t>② output via environment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answer read from a REPL variable, not generated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6702552" y="4846320"/>
            <a:ext cx="4837176" cy="86868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C97A"/>
                </a:solidFill>
                <a:latin typeface="IBM Plex Sans"/>
                <a:ea typeface="IBM Plex Sans"/>
                <a:cs typeface="IBM Plex Sans"/>
                <a:sym typeface="IBM Plex Sans"/>
              </a:rPr>
              <a:t>③ symbolic recursion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code spawns LM calls in loops → Ω(|P|)…Ω(|P|²) work</a:t>
            </a:r>
            <a:endParaRPr/>
          </a:p>
        </p:txBody>
      </p:sp>
      <p:cxnSp>
        <p:nvCxnSpPr>
          <p:cNvPr id="118" name="Google Shape;118;p14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4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Prompt-as-environment: the model writes code to explore it, and recurses on slices.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MECHANISM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REPL · persistent state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The REPL: </a:t>
            </a:r>
            <a:r>
              <a:rPr b="0" i="1" lang="en-US" sz="3000" u="none" cap="none" strike="noStrike">
                <a:solidFill>
                  <a:srgbClr val="A6A092"/>
                </a:solidFill>
                <a:latin typeface="Fraunces"/>
                <a:ea typeface="Fraunces"/>
                <a:cs typeface="Fraunces"/>
                <a:sym typeface="Fraunces"/>
              </a:rPr>
              <a:t>Prompt-as-Variable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02920" y="15727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model works an unfamiliar prompt the way a human works a hidden Jupyter notebook — peeking at slices, never reading the whole thing.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02920" y="224028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Stateful, not a script. </a:t>
            </a:r>
            <a:r>
              <a:rPr b="0" i="1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Like Jupyter: variables &amp; functions persist; the model writes only the next block.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Peek to learn structure.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print(context[:500]) reveals headers, format, where data begins.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Slice &amp; grep.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 line numbers, regex-match labels, loop over chunks — in code.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Selective load. 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stdout the model prints enters its window; the rest stays external.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model decides what it sees</a:t>
            </a:r>
            <a:r>
              <a:rPr b="0" i="0" lang="en-US" sz="12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this defeats the U-curve and context rot.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6446520" y="2240280"/>
            <a:ext cx="5257800" cy="338328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611112" y="2350008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small window ↔ huge environment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692640" y="23500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selective load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6611112" y="2880360"/>
            <a:ext cx="1828800" cy="155448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374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 context (small)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CE7DB"/>
                </a:solidFill>
                <a:latin typeface="IBM Plex Mono"/>
                <a:ea typeface="IBM Plex Mono"/>
                <a:cs typeface="IBM Plex Mono"/>
                <a:sym typeface="IBM Plex Mono"/>
              </a:rPr>
              <a:t>len=30M chars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CE7DB"/>
                </a:solidFill>
                <a:latin typeface="IBM Plex Mono"/>
                <a:ea typeface="IBM Plex Mono"/>
                <a:cs typeface="IBM Plex Mono"/>
                <a:sym typeface="IBM Plex Mono"/>
              </a:rPr>
              <a:t>first 500: …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what it chose to print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485632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⇄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8942832" y="2880360"/>
            <a:ext cx="2596896" cy="155448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374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 environment (huge)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CE7DB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context = "&lt;task&gt; + CSV"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lines = context.split()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 l in lines[:5]: print(l[:200])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8942832" y="4572000"/>
            <a:ext cx="1463040" cy="27432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6D6C2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stays external</a:t>
            </a:r>
            <a:endParaRPr/>
          </a:p>
        </p:txBody>
      </p:sp>
      <p:cxnSp>
        <p:nvCxnSpPr>
          <p:cNvPr id="137" name="Google Shape;137;p15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5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REPL gives the model a symbolic handle — it never sees the whole prompt, only what it prints.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MECHANISM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 → amber · return → teal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Recursion with </a:t>
            </a:r>
            <a:r>
              <a:rPr b="0" i="1" lang="en-US" sz="3000" u="none" cap="none" strike="noStrike">
                <a:solidFill>
                  <a:srgbClr val="A6A092"/>
                </a:solidFill>
                <a:latin typeface="Fraunces"/>
                <a:ea typeface="Fraunces"/>
                <a:cs typeface="Fraunces"/>
                <a:sym typeface="Fraunces"/>
              </a:rPr>
              <a:t>Symbols</a:t>
            </a: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, Not Strings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02920" y="15727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single feature that separates RLMs from ordinary sub-agent stacks: sub-agent results land as variables, not as text bloating the parent's context.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02920" y="2194560"/>
            <a:ext cx="5349240" cy="269748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67512" y="2304288"/>
            <a:ext cx="50200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Normal sub-agent (e.g. Claude Code)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3840479" y="23042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string → context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67512" y="2697480"/>
            <a:ext cx="5020055" cy="86868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D9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6B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parent context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D96B6B"/>
                </a:solidFill>
                <a:latin typeface="IBM Plex Sans"/>
                <a:ea typeface="IBM Plex Sans"/>
                <a:cs typeface="IBM Plex Sans"/>
                <a:sym typeface="IBM Plex Sans"/>
              </a:rPr>
              <a:t>+ full sub-agent text dumped IN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67512" y="3675887"/>
            <a:ext cx="50200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6B6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↑ grows noisy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7512" y="4023360"/>
            <a:ext cx="50200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Verbose sub-agent reasoning floods the window — recreating the long-context problem you tried to solve.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6172199" y="2194560"/>
            <a:ext cx="5349240" cy="269748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6336791" y="2304288"/>
            <a:ext cx="50200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RLM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509759" y="23042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symbol → variable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6336791" y="2697480"/>
            <a:ext cx="5020055" cy="96012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6D6C2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parent REPL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6D6C2"/>
                </a:solidFill>
                <a:latin typeface="IBM Plex Mono"/>
                <a:ea typeface="IBM Plex Mono"/>
                <a:cs typeface="IBM Plex Mono"/>
                <a:sym typeface="IBM Plex Mono"/>
              </a:rPr>
              <a:t>r = llm_query(…)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r is a symbol — parent may never read it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336791" y="3767328"/>
            <a:ext cx="50200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↑ stays clean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336791" y="4114800"/>
            <a:ext cx="50200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Parent can transform r, pass it to FINAL_VAR, or print a slice — all without ingesting the sub-agent's steps.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502920" y="5074920"/>
            <a:ext cx="3108960" cy="31089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2C97A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when to recurse: separable heavy sub-region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3703320" y="5074920"/>
            <a:ext cx="3200400" cy="31089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6D6C2"/>
                </a:solidFill>
                <a:latin typeface="IBM Plex Mono"/>
                <a:ea typeface="IBM Plex Mono"/>
                <a:cs typeface="IBM Plex Mono"/>
                <a:sym typeface="IBM Plex Mono"/>
              </a:rPr>
              <a:t>KV-cache: sub-agents keep own history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6995160" y="5074920"/>
            <a:ext cx="2286000" cy="31089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374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depth-limited (≤3) to bound cost</a:t>
            </a:r>
            <a:endParaRPr/>
          </a:p>
        </p:txBody>
      </p:sp>
      <p:cxnSp>
        <p:nvCxnSpPr>
          <p:cNvPr id="163" name="Google Shape;163;p16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6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Sub-agent results return as variables, not text — the parent context stays clean.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ALGORITHM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loop · terminate on Final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The RLM Loop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02920" y="1554480"/>
            <a:ext cx="54864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Init. </a:t>
            </a:r>
            <a:r>
              <a:rPr b="0" i="0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Load P as context; register llm_query, FINAL, FINAL_VAR; run boilerplate before the first turn.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turn. </a:t>
            </a:r>
            <a:r>
              <a:rPr b="0" i="0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Root LM sees REPL state + truncated stdout → emits a repl block.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Truncation is load-bearing. </a:t>
            </a:r>
            <a:r>
              <a:rPr b="0" i="0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≤ c tokens/turn ⇒ ≤ K/c iterations — forces variables &amp; sub-calls.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Terminate. </a:t>
            </a:r>
            <a:r>
              <a:rPr b="0" i="1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FINAL(str) returns a generated answer; FINAL_VAR(var) returns a built variable → unbounded output.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Recursion point. </a:t>
            </a:r>
            <a:r>
              <a:rPr b="0" i="0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A llm_query call re-enters the orchestrator and spawns a deeper agent.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6400800" y="1600200"/>
            <a:ext cx="5303520" cy="420624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6565392" y="1709928"/>
            <a:ext cx="49743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One iteration of the root loop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692640" y="1709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Algorithm 1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6565392" y="2103120"/>
            <a:ext cx="4974336" cy="45720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2C97A"/>
                </a:solidFill>
                <a:latin typeface="IBM Plex Sans"/>
                <a:ea typeface="IBM Plex Sans"/>
                <a:cs typeface="IBM Plex Sans"/>
                <a:sym typeface="IBM Plex Sans"/>
              </a:rPr>
              <a:t>root LM  ·  state + truncated stdout in</a:t>
            </a:r>
            <a:endParaRPr/>
          </a:p>
        </p:txBody>
      </p:sp>
      <p:cxnSp>
        <p:nvCxnSpPr>
          <p:cNvPr id="178" name="Google Shape;178;p17"/>
          <p:cNvCxnSpPr/>
          <p:nvPr/>
        </p:nvCxnSpPr>
        <p:spPr>
          <a:xfrm flipH="1" rot="-5400000">
            <a:off x="8970509" y="2688090"/>
            <a:ext cx="164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C73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7"/>
          <p:cNvSpPr/>
          <p:nvPr/>
        </p:nvSpPr>
        <p:spPr>
          <a:xfrm rot="10800000">
            <a:off x="8997695" y="2688336"/>
            <a:ext cx="109728" cy="109728"/>
          </a:xfrm>
          <a:prstGeom prst="triangle">
            <a:avLst>
              <a:gd fmla="val 50000" name="adj"/>
            </a:avLst>
          </a:prstGeom>
          <a:solidFill>
            <a:srgbClr val="6C73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565392" y="2734056"/>
            <a:ext cx="4974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emits ```repl``` code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6565392" y="2926080"/>
            <a:ext cx="4974336" cy="45720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374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 executes  ·  persistent state</a:t>
            </a:r>
            <a:endParaRPr/>
          </a:p>
        </p:txBody>
      </p:sp>
      <p:cxnSp>
        <p:nvCxnSpPr>
          <p:cNvPr id="182" name="Google Shape;182;p17"/>
          <p:cNvCxnSpPr/>
          <p:nvPr/>
        </p:nvCxnSpPr>
        <p:spPr>
          <a:xfrm flipH="1" rot="-5400000">
            <a:off x="8979659" y="3501900"/>
            <a:ext cx="1464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C73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7"/>
          <p:cNvSpPr/>
          <p:nvPr/>
        </p:nvSpPr>
        <p:spPr>
          <a:xfrm rot="10800000">
            <a:off x="8997695" y="3493008"/>
            <a:ext cx="109728" cy="109728"/>
          </a:xfrm>
          <a:prstGeom prst="triangle">
            <a:avLst>
              <a:gd fmla="val 50000" name="adj"/>
            </a:avLst>
          </a:prstGeom>
          <a:solidFill>
            <a:srgbClr val="6C73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6565392" y="3630168"/>
            <a:ext cx="2350008" cy="64008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6D6C2"/>
                </a:solidFill>
                <a:latin typeface="IBM Plex Mono"/>
                <a:ea typeface="IBM Plex Mono"/>
                <a:cs typeface="IBM Plex Mono"/>
                <a:sym typeface="IBM Plex Mono"/>
              </a:rPr>
              <a:t>llm_query(…)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spawn sub → returns symbol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9189720" y="3630168"/>
            <a:ext cx="2350008" cy="64008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374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stdout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truncated to c tokens</a:t>
            </a:r>
            <a:endParaRPr/>
          </a:p>
        </p:txBody>
      </p:sp>
      <p:cxnSp>
        <p:nvCxnSpPr>
          <p:cNvPr id="186" name="Google Shape;186;p17"/>
          <p:cNvCxnSpPr/>
          <p:nvPr/>
        </p:nvCxnSpPr>
        <p:spPr>
          <a:xfrm flipH="1" rot="-5400000">
            <a:off x="8979659" y="4398012"/>
            <a:ext cx="1464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C73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7"/>
          <p:cNvSpPr/>
          <p:nvPr/>
        </p:nvSpPr>
        <p:spPr>
          <a:xfrm rot="10800000">
            <a:off x="8997695" y="4389120"/>
            <a:ext cx="109728" cy="109728"/>
          </a:xfrm>
          <a:prstGeom prst="triangle">
            <a:avLst>
              <a:gd fmla="val 50000" name="adj"/>
            </a:avLst>
          </a:prstGeom>
          <a:solidFill>
            <a:srgbClr val="6C73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6565392" y="4453128"/>
            <a:ext cx="4974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append truncated stdout to history</a:t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6565392" y="4754880"/>
            <a:ext cx="2395727" cy="31089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2C97A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FINAL(str)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9143999" y="4754880"/>
            <a:ext cx="2395727" cy="31089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6D6C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FINAL_VAR(var)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565392" y="5120640"/>
            <a:ext cx="4974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↑ loop back until a Final is set</a:t>
            </a:r>
            <a:endParaRPr/>
          </a:p>
        </p:txBody>
      </p:sp>
      <p:cxnSp>
        <p:nvCxnSpPr>
          <p:cNvPr id="192" name="Google Shape;192;p17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7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A fixed loop: code → truncated stdout → repeat, until a Final variable ends it.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EXAMPLE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spam/ham · 44,848 chars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A Real </a:t>
            </a:r>
            <a:r>
              <a:rPr b="0" i="1" lang="en-US" sz="3000" u="none" cap="none" strike="noStrike">
                <a:solidFill>
                  <a:srgbClr val="A6A092"/>
                </a:solidFill>
                <a:latin typeface="Fraunces"/>
                <a:ea typeface="Fraunces"/>
                <a:cs typeface="Fraunces"/>
                <a:sym typeface="Fraunces"/>
              </a:rPr>
              <a:t>Trajectory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502920" y="15727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Task: given a 44,848-char spam/ham log — "is spam more common than ham?" The RLM never autoregressively guesses; it writes code that computes, then returns the variable.</a:t>
            </a:r>
            <a:endParaRPr/>
          </a:p>
        </p:txBody>
      </p:sp>
      <p:graphicFrame>
        <p:nvGraphicFramePr>
          <p:cNvPr id="203" name="Google Shape;203;p18"/>
          <p:cNvGraphicFramePr/>
          <p:nvPr/>
        </p:nvGraphicFramePr>
        <p:xfrm>
          <a:off x="502920" y="2240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{0FF45BEA-F915-41D0-8042-7BC0F4C1D214}</a:tableStyleId>
              </a:tblPr>
              <a:tblGrid>
                <a:gridCol w="457200"/>
                <a:gridCol w="5852150"/>
                <a:gridCol w="48737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#</a:t>
                      </a:r>
                      <a:endParaRPr/>
                    </a:p>
                  </a:txBody>
                  <a:tcPr marT="36575" marB="36575" marR="91450" marL="91450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code written</a:t>
                      </a:r>
                      <a:endParaRPr/>
                    </a:p>
                  </a:txBody>
                  <a:tcPr marT="36575" marB="36575" marR="91450" marL="91450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what it learned</a:t>
                      </a:r>
                      <a:endParaRPr/>
                    </a:p>
                  </a:txBody>
                  <a:tcPr marT="36575" marB="36575" marR="91450" marL="91450">
                    <a:solidFill>
                      <a:srgbClr val="1B262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>
                          <a:solidFill>
                            <a:srgbClr val="E8A33D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ECE7DB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print(len(context))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ECE7DB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print(context[:500])</a:t>
                      </a:r>
                      <a:endParaRPr/>
                    </a:p>
                  </a:txBody>
                  <a:tcPr marT="45725" marB="45725" marR="91450" marL="109725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44,848 chars; it's a labeled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spam/ham text dataset</a:t>
                      </a:r>
                      <a:endParaRPr/>
                    </a:p>
                  </a:txBody>
                  <a:tcPr marT="45725" marB="45725" marR="91450" marL="109725">
                    <a:solidFill>
                      <a:srgbClr val="1B262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>
                          <a:solidFill>
                            <a:srgbClr val="E8A33D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ECE7DB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labels = re.findall(pattern, context)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ECE7DB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 = Counter(labels)</a:t>
                      </a:r>
                      <a:endParaRPr/>
                    </a:p>
                  </a:txBody>
                  <a:tcPr marT="45725" marB="45725" marR="91450" marL="109725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spam = ?, ham = 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structure understood</a:t>
                      </a:r>
                      <a:endParaRPr/>
                    </a:p>
                  </a:txBody>
                  <a:tcPr marT="45725" marB="45725" marR="91450" marL="109725">
                    <a:solidFill>
                      <a:srgbClr val="16201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>
                          <a:solidFill>
                            <a:srgbClr val="E8A33D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ECE7DB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print(c, len(entries))</a:t>
                      </a:r>
                      <a:endParaRPr/>
                    </a:p>
                  </a:txBody>
                  <a:tcPr marT="45725" marB="45725" marR="91450" marL="109725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spam &lt; ham; 266 entries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verified</a:t>
                      </a:r>
                      <a:endParaRPr/>
                    </a:p>
                  </a:txBody>
                  <a:tcPr marT="45725" marB="45725" marR="91450" marL="109725">
                    <a:solidFill>
                      <a:srgbClr val="1B262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>
                          <a:solidFill>
                            <a:srgbClr val="E8A33D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FINAL_VAR(answer)</a:t>
                      </a:r>
                      <a:endParaRPr/>
                    </a:p>
                  </a:txBody>
                  <a:tcPr marT="45725" marB="45725" marR="91450" marL="109725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"spam is less common than ham" ✓</a:t>
                      </a:r>
                      <a:endParaRPr/>
                    </a:p>
                  </a:txBody>
                  <a:tcPr marT="45725" marB="45725" marR="91450" marL="109725">
                    <a:solidFill>
                      <a:srgbClr val="16201F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18"/>
          <p:cNvSpPr txBox="1"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C97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Contrast. </a:t>
            </a:r>
            <a:r>
              <a:rPr b="0" i="1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stock LLM autoregressively guesses counts (the strawberry-"count the R's" failure); the RLM counts in code. Reading is cheap &amp; parallel; generation is dear &amp; token-by-token — so RLMs read selectively and write little code.</a:t>
            </a:r>
            <a:endParaRPr/>
          </a:p>
        </p:txBody>
      </p:sp>
      <p:cxnSp>
        <p:nvCxnSpPr>
          <p:cNvPr id="205" name="Google Shape;205;p18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8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Code execution is a verifiable path; generation is a guessable one.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BEHAVIOR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discovered · not programmed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Emergent </a:t>
            </a:r>
            <a:r>
              <a:rPr b="0" i="1" lang="en-US" sz="3000" u="none" cap="none" strike="noStrike">
                <a:solidFill>
                  <a:srgbClr val="A6A092"/>
                </a:solidFill>
                <a:latin typeface="Fraunces"/>
                <a:ea typeface="Fraunces"/>
                <a:cs typeface="Fraunces"/>
                <a:sym typeface="Fraunces"/>
              </a:rPr>
              <a:t>Strategies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02920" y="15727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Without being told to, RLMs discover a small repertoire of decomposition patterns — and combine them to match a task's structure.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502920" y="224028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Peek / probe. </a:t>
            </a:r>
            <a:r>
              <a:rPr b="0" i="0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Inspect length, format, first/last slices before acting.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Grep. </a:t>
            </a:r>
            <a:r>
              <a:rPr b="0" i="0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Regex/keyword search to narrow the space before deeper analysis.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Partition + map. </a:t>
            </a:r>
            <a:r>
              <a:rPr b="0" i="0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Chunk P, fire llm_query per chunk, aggregate — matches O(n) tasks.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Summarize then query. </a:t>
            </a:r>
            <a:r>
              <a:rPr b="0" i="1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Summarize sections into buffers, then query over all buffers — handles beyond any window.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2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Output stitching. </a:t>
            </a:r>
            <a:r>
              <a:rPr b="0" i="0" lang="en-US" sz="12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Chain sub-calls in code to emit outputs longer than the context window.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6446520" y="2240280"/>
            <a:ext cx="5257800" cy="338328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611112" y="2350008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Probe → decompose → solve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692640" y="23500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emergent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6611112" y="2788920"/>
            <a:ext cx="2327148" cy="45720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2C97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probe</a:t>
            </a:r>
            <a:endParaRPr/>
          </a:p>
        </p:txBody>
      </p:sp>
      <p:cxnSp>
        <p:nvCxnSpPr>
          <p:cNvPr id="221" name="Google Shape;221;p19"/>
          <p:cNvCxnSpPr/>
          <p:nvPr/>
        </p:nvCxnSpPr>
        <p:spPr>
          <a:xfrm>
            <a:off x="9002267" y="3017520"/>
            <a:ext cx="1464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C73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9"/>
          <p:cNvSpPr/>
          <p:nvPr/>
        </p:nvSpPr>
        <p:spPr>
          <a:xfrm rot="5400000">
            <a:off x="9066276" y="2962656"/>
            <a:ext cx="109728" cy="109728"/>
          </a:xfrm>
          <a:prstGeom prst="triangle">
            <a:avLst>
              <a:gd fmla="val 50000" name="adj"/>
            </a:avLst>
          </a:prstGeom>
          <a:solidFill>
            <a:srgbClr val="6C73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9212580" y="2788920"/>
            <a:ext cx="2327148" cy="45720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2C97A"/>
                </a:solidFill>
                <a:latin typeface="IBM Plex Sans"/>
                <a:ea typeface="IBM Plex Sans"/>
                <a:cs typeface="IBM Plex Sans"/>
                <a:sym typeface="IBM Plex Sans"/>
              </a:rPr>
              <a:t>grep</a:t>
            </a:r>
            <a:endParaRPr/>
          </a:p>
        </p:txBody>
      </p:sp>
      <p:cxnSp>
        <p:nvCxnSpPr>
          <p:cNvPr id="224" name="Google Shape;224;p19"/>
          <p:cNvCxnSpPr/>
          <p:nvPr/>
        </p:nvCxnSpPr>
        <p:spPr>
          <a:xfrm flipH="1" rot="-5400000">
            <a:off x="8993369" y="3383034"/>
            <a:ext cx="164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C73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9"/>
          <p:cNvSpPr/>
          <p:nvPr/>
        </p:nvSpPr>
        <p:spPr>
          <a:xfrm rot="10800000">
            <a:off x="9020555" y="3383280"/>
            <a:ext cx="109728" cy="109728"/>
          </a:xfrm>
          <a:prstGeom prst="triangle">
            <a:avLst>
              <a:gd fmla="val 50000" name="adj"/>
            </a:avLst>
          </a:prstGeom>
          <a:solidFill>
            <a:srgbClr val="6C73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6611112" y="3447288"/>
            <a:ext cx="49286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decide structure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6611112" y="3703320"/>
            <a:ext cx="2327148" cy="68580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6D6C2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partition + map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O(n)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9212580" y="3703320"/>
            <a:ext cx="2327148" cy="68580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6D6C2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summarize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Sans"/>
                <a:ea typeface="IBM Plex Sans"/>
                <a:cs typeface="IBM Plex Sans"/>
                <a:sym typeface="IBM Plex Sans"/>
              </a:rPr>
              <a:t>ultra-long</a:t>
            </a:r>
            <a:endParaRPr/>
          </a:p>
        </p:txBody>
      </p:sp>
      <p:cxnSp>
        <p:nvCxnSpPr>
          <p:cNvPr id="229" name="Google Shape;229;p19"/>
          <p:cNvCxnSpPr/>
          <p:nvPr/>
        </p:nvCxnSpPr>
        <p:spPr>
          <a:xfrm flipH="1" rot="-5400000">
            <a:off x="8993369" y="4544322"/>
            <a:ext cx="164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9"/>
          <p:cNvSpPr/>
          <p:nvPr/>
        </p:nvSpPr>
        <p:spPr>
          <a:xfrm rot="10800000">
            <a:off x="9020555" y="4544568"/>
            <a:ext cx="109728" cy="109728"/>
          </a:xfrm>
          <a:prstGeom prst="triangle">
            <a:avLst>
              <a:gd fmla="val 50000" name="adj"/>
            </a:avLst>
          </a:prstGeom>
          <a:solidFill>
            <a:srgbClr val="4FB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6611112" y="4690872"/>
            <a:ext cx="4928616" cy="457200"/>
          </a:xfrm>
          <a:prstGeom prst="roundRect">
            <a:avLst>
              <a:gd fmla="val 4000" name="adj"/>
            </a:avLst>
          </a:prstGeom>
          <a:solidFill>
            <a:srgbClr val="16201F"/>
          </a:solidFill>
          <a:ln cap="flat" cmpd="sng" w="12700">
            <a:solidFill>
              <a:srgbClr val="374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CE7DB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FINAL_VAR(stitched answer)</a:t>
            </a:r>
            <a:endParaRPr/>
          </a:p>
        </p:txBody>
      </p:sp>
      <p:cxnSp>
        <p:nvCxnSpPr>
          <p:cNvPr id="232" name="Google Shape;232;p19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9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These patterns emerge from in-context learning — no fine-tuning required for capable coders.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COMPARISON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context-centric vs task-centric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RLM vs the </a:t>
            </a:r>
            <a:r>
              <a:rPr b="0" i="1" lang="en-US" sz="3000" u="none" cap="none" strike="noStrike">
                <a:solidFill>
                  <a:srgbClr val="A6A092"/>
                </a:solidFill>
                <a:latin typeface="Fraunces"/>
                <a:ea typeface="Fraunces"/>
                <a:cs typeface="Fraunces"/>
                <a:sym typeface="Fraunces"/>
              </a:rPr>
              <a:t>Alternatives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502920" y="15727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RLMs differ in what they decompose (the prompt, not the task) and how sub-results return (symbols, not text).</a:t>
            </a:r>
            <a:endParaRPr/>
          </a:p>
        </p:txBody>
      </p:sp>
      <p:graphicFrame>
        <p:nvGraphicFramePr>
          <p:cNvPr id="243" name="Google Shape;243;p20"/>
          <p:cNvGraphicFramePr/>
          <p:nvPr/>
        </p:nvGraphicFramePr>
        <p:xfrm>
          <a:off x="502920" y="2148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{0FF45BEA-F915-41D0-8042-7BC0F4C1D214}</a:tableStyleId>
              </a:tblPr>
              <a:tblGrid>
                <a:gridCol w="2651750"/>
                <a:gridCol w="2560325"/>
                <a:gridCol w="2743200"/>
                <a:gridCol w="32278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Method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Decomposes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Sub-result handling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Long-context fit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62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RAG (BM25 / vec)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by similarity retrieval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chunks loaded into context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moderate; needs index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B262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ReAct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fixed tool workflow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tool outputs into context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degrades at scale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6201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CodeAct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via code execution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outputs into context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good, no recursion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B262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Compaction / Claude Code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task-centric summarize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summaries into context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rgbClr val="A6A09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good, to ~window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16201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F2C97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RLM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242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ECE7D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context-centric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242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ECE7D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symbols in REPL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242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>
                          <a:solidFill>
                            <a:srgbClr val="ECE7D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beyond any window · 10M+ tok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242E28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20"/>
          <p:cNvSpPr txBox="1"/>
          <p:nvPr/>
        </p:nvSpPr>
        <p:spPr>
          <a:xfrm>
            <a:off x="502920" y="53492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RAG can stay on as a </a:t>
            </a:r>
            <a:r>
              <a:rPr b="1" i="1" lang="en-US" sz="10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pre-processing step</a:t>
            </a:r>
            <a:r>
              <a:rPr b="0" i="1" lang="en-US" sz="10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feeding an RLM.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217920" y="5349240"/>
            <a:ext cx="54681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RLM keeps </a:t>
            </a:r>
            <a:r>
              <a:rPr b="1" i="1" lang="en-US" sz="10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causal / order</a:t>
            </a:r>
            <a:r>
              <a:rPr b="0" i="1" lang="en-US" sz="10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info via code — RAG loses it without extra metadata.</a:t>
            </a:r>
            <a:endParaRPr/>
          </a:p>
        </p:txBody>
      </p:sp>
      <p:cxnSp>
        <p:nvCxnSpPr>
          <p:cNvPr id="246" name="Google Shape;246;p20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20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Others decompose the task and pour results back in; RLM decomposes the prompt and keeps them symbolic.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EVIDENCE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GPT-5 ecosystem · Table 1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Benchmarks, </a:t>
            </a:r>
            <a:r>
              <a:rPr b="0" i="1" lang="en-US" sz="3000" u="none" cap="none" strike="noStrike">
                <a:solidFill>
                  <a:srgbClr val="A6A092"/>
                </a:solidFill>
                <a:latin typeface="Fraunces"/>
                <a:ea typeface="Fraunces"/>
                <a:cs typeface="Fraunces"/>
                <a:sym typeface="Fraunces"/>
              </a:rPr>
              <a:t>Complexity</a:t>
            </a: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 &amp; Cost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502920" y="1600200"/>
            <a:ext cx="5029200" cy="2468880"/>
          </a:xfrm>
          <a:prstGeom prst="roundRect">
            <a:avLst>
              <a:gd fmla="val 1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667512" y="1709928"/>
            <a:ext cx="4700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Accuracy vs. task complexity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3520439" y="1709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 1</a:t>
            </a:r>
            <a:endParaRPr/>
          </a:p>
        </p:txBody>
      </p:sp>
      <p:pic>
        <p:nvPicPr>
          <p:cNvPr id="259" name="Google Shape;2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2057400"/>
            <a:ext cx="4700016" cy="19019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850392" y="3703320"/>
            <a:ext cx="43342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O(1)        O(n)        O(n²)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502920" y="420624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6D6C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Cost. </a:t>
            </a:r>
            <a:r>
              <a:rPr b="0" i="1" lang="en-US" sz="10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Median RLM run is </a:t>
            </a:r>
            <a:r>
              <a:rPr b="1" i="1" lang="en-US" sz="105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cheaper</a:t>
            </a:r>
            <a:r>
              <a:rPr b="0" i="1" lang="en-US" sz="105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than the base model; tail expensive (outliers). BrowseComp+ ≈ $0.99/q vs ~$1.50–2.75 extrapolated for full ingestion.</a:t>
            </a:r>
            <a:endParaRPr/>
          </a:p>
        </p:txBody>
      </p:sp>
      <p:graphicFrame>
        <p:nvGraphicFramePr>
          <p:cNvPr id="262" name="Google Shape;262;p21"/>
          <p:cNvGraphicFramePr/>
          <p:nvPr/>
        </p:nvGraphicFramePr>
        <p:xfrm>
          <a:off x="571500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{0FF45BEA-F915-41D0-8042-7BC0F4C1D214}</a:tableStyleId>
              </a:tblPr>
              <a:tblGrid>
                <a:gridCol w="2834650"/>
                <a:gridCol w="1005850"/>
                <a:gridCol w="1051550"/>
                <a:gridCol w="10515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Task (complexity)</a:t>
                      </a:r>
                      <a:endParaRPr/>
                    </a:p>
                  </a:txBody>
                  <a:tcPr marT="36575" marB="36575" marR="91450" marL="731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GPT-5</a:t>
                      </a:r>
                      <a:endParaRPr/>
                    </a:p>
                  </a:txBody>
                  <a:tcPr marT="36575" marB="36575" marR="91450" marL="731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RLM d=1</a:t>
                      </a:r>
                      <a:endParaRPr/>
                    </a:p>
                  </a:txBody>
                  <a:tcPr marT="36575" marB="36575" marR="91450" marL="73150" anchor="ctr">
                    <a:solidFill>
                      <a:srgbClr val="1B2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RLM d=3</a:t>
                      </a:r>
                      <a:endParaRPr/>
                    </a:p>
                  </a:txBody>
                  <a:tcPr marT="36575" marB="36575" marR="91450" marL="73150" anchor="ctr">
                    <a:solidFill>
                      <a:srgbClr val="1B262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ECE7D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S-NIAH  [O(1)]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92.0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98.0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6C7370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—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ECE7D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OOLONG  [O(n)]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44.0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56.0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58.0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ECE7D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OOLONG-Pairs  [O(n²)]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D96B6B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0.1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58.0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76.0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ECE7D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BrowseComp+  [6–11M tok]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D96B6B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91.3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92.0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solidFill>
                            <a:srgbClr val="ECE7D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CodeQA  [23K–4.2M tok]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50">
                          <a:solidFill>
                            <a:srgbClr val="A6A09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24.0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62.0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50">
                          <a:solidFill>
                            <a:srgbClr val="86D6C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58.0</a:t>
                      </a:r>
                      <a:endParaRPr/>
                    </a:p>
                  </a:txBody>
                  <a:tcPr marT="45725" marB="45725" marR="91450" marL="73150" anchor="ctr">
                    <a:solidFill>
                      <a:srgbClr val="16201F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21"/>
          <p:cNvSpPr/>
          <p:nvPr/>
        </p:nvSpPr>
        <p:spPr>
          <a:xfrm>
            <a:off x="5715000" y="4206240"/>
            <a:ext cx="1737360" cy="960120"/>
          </a:xfrm>
          <a:prstGeom prst="roundRect">
            <a:avLst>
              <a:gd fmla="val 6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852160" y="4334255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+26%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5852160" y="4773168"/>
            <a:ext cx="14630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vs compaction</a:t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7543800" y="4206240"/>
            <a:ext cx="1828800" cy="960120"/>
          </a:xfrm>
          <a:prstGeom prst="roundRect">
            <a:avLst>
              <a:gd fmla="val 6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7680960" y="4334255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+130%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7680960" y="477316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vs CodeAct+sub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9464040" y="4206240"/>
            <a:ext cx="2194560" cy="960120"/>
          </a:xfrm>
          <a:prstGeom prst="roundRect">
            <a:avLst>
              <a:gd fmla="val 6000" name="adj"/>
            </a:avLst>
          </a:prstGeom>
          <a:solidFill>
            <a:srgbClr val="1B262A"/>
          </a:solidFill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9601200" y="4334255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d=0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9601200" y="477316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REPL alone strong; recursion +10–59%</a:t>
            </a:r>
            <a:endParaRPr/>
          </a:p>
        </p:txBody>
      </p:sp>
      <p:cxnSp>
        <p:nvCxnSpPr>
          <p:cNvPr id="272" name="Google Shape;272;p21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21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vanilla model collapses on O(n²); RLM stays flat — and the harder the task, the bigger the gap.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1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/>
        </p:nvSpPr>
        <p:spPr>
          <a:xfrm>
            <a:off x="502920" y="365760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/ 10</a:t>
            </a:r>
            <a:r>
              <a:rPr b="0" i="0" lang="en-US" sz="10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  ·  DECISION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7619695" y="365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benefits · limits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When to </a:t>
            </a:r>
            <a:r>
              <a:rPr b="0" i="1" lang="en-US" sz="3000" u="none" cap="none" strike="noStrike">
                <a:solidFill>
                  <a:srgbClr val="A6A092"/>
                </a:solidFill>
                <a:latin typeface="Fraunces"/>
                <a:ea typeface="Fraunces"/>
                <a:cs typeface="Fraunces"/>
                <a:sym typeface="Fraunces"/>
              </a:rPr>
              <a:t>Use</a:t>
            </a:r>
            <a:r>
              <a:rPr b="0" i="0" lang="en-US" sz="3000" u="none" cap="none" strike="noStrike">
                <a:solidFill>
                  <a:srgbClr val="ECE7DB"/>
                </a:solidFill>
                <a:latin typeface="Fraunces"/>
                <a:ea typeface="Fraunces"/>
                <a:cs typeface="Fraunces"/>
                <a:sym typeface="Fraunces"/>
              </a:rPr>
              <a:t> RLMs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502920" y="1600200"/>
            <a:ext cx="5349240" cy="3566160"/>
          </a:xfrm>
          <a:prstGeom prst="roundRect">
            <a:avLst>
              <a:gd fmla="val 1000" name="adj"/>
            </a:avLst>
          </a:prstGeom>
          <a:solidFill>
            <a:srgbClr val="1B2A26"/>
          </a:solidFill>
          <a:ln cap="flat" cmpd="sng" w="12700">
            <a:solidFill>
              <a:srgbClr val="4F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685800" y="1728216"/>
            <a:ext cx="49834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Benefits   </a:t>
            </a:r>
            <a:r>
              <a:rPr b="1" i="0" lang="en-US" sz="1200" u="none" cap="none" strike="noStrike">
                <a:solidFill>
                  <a:srgbClr val="86D6C2"/>
                </a:solidFill>
                <a:latin typeface="IBM Plex Mono"/>
                <a:ea typeface="IBM Plex Mono"/>
                <a:cs typeface="IBM Plex Mono"/>
                <a:sym typeface="IBM Plex Mono"/>
              </a:rPr>
              <a:t>+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85800" y="2103120"/>
            <a:ext cx="4983479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Focused attention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defeats U-curve &amp; context rot by selective load.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Matches recursive structure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multi-hop QA, multi-doc summarization.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Composable symbolic returns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parent context stays clean.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Unbounded output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via FINAL_VAR.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Causal / order awareness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through code.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B39A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Median cost savings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selective read + cache hits + cheap input tokens.</a:t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6172199" y="1600200"/>
            <a:ext cx="5349240" cy="3566160"/>
          </a:xfrm>
          <a:prstGeom prst="roundRect">
            <a:avLst>
              <a:gd fmla="val 1000" name="adj"/>
            </a:avLst>
          </a:prstGeom>
          <a:solidFill>
            <a:srgbClr val="2A1B1E"/>
          </a:solidFill>
          <a:ln cap="flat" cmpd="sng" w="12700">
            <a:solidFill>
              <a:srgbClr val="D9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6355079" y="1728216"/>
            <a:ext cx="49834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370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Limitations   </a:t>
            </a:r>
            <a:r>
              <a:rPr b="1" i="0" lang="en-US" sz="1400" u="none" cap="none" strike="noStrike">
                <a:solidFill>
                  <a:srgbClr val="D96B6B"/>
                </a:solidFill>
                <a:latin typeface="IBM Plex Mono"/>
                <a:ea typeface="IBM Plex Mono"/>
                <a:cs typeface="IBM Plex Mono"/>
                <a:sym typeface="IBM Plex Mono"/>
              </a:rPr>
              <a:t>−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6355079" y="2103120"/>
            <a:ext cx="4983479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96B6B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Latency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seconds to minutes; no async / cross-recursion prefix cache.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96B6B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 variance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high; no hard runtime / cost guarantees.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96B6B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Coding-dependent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quality hinges on the base model's code ability.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96B6B"/>
                </a:solidFill>
                <a:latin typeface="IBM Plex Mono"/>
                <a:ea typeface="IBM Plex Mono"/>
                <a:cs typeface="IBM Plex Mono"/>
                <a:sym typeface="IBM Plex Mono"/>
              </a:rPr>
              <a:t>▪  </a:t>
            </a:r>
            <a:r>
              <a:rPr b="1" i="0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Brittle FINAL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16% of training turns mis-used it; recursion validated ≤ depth 3.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C97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Reach for RLMs when </a:t>
            </a:r>
            <a:r>
              <a:rPr b="0" i="1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inputs exceed or strain the window, tasks are multi-hop / recursive, or most of the input is irrelevant noise. </a:t>
            </a:r>
            <a:r>
              <a:rPr b="1" i="1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RLM-Qwen3-8B</a:t>
            </a:r>
            <a:r>
              <a:rPr b="0" i="1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the first natively recursive LM (+28% median, 3× faster, 48 H100-hrs) — shows recursion can be </a:t>
            </a:r>
            <a:r>
              <a:rPr b="1" i="1" lang="en-US" sz="1100" u="none" cap="none" strike="noStrike">
                <a:solidFill>
                  <a:srgbClr val="ECE7DB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learned</a:t>
            </a:r>
            <a:r>
              <a:rPr b="0" i="1" lang="en-US" sz="1100" u="none" cap="none" strike="noStrike">
                <a:solidFill>
                  <a:srgbClr val="A6A092"/>
                </a:solidFill>
                <a:latin typeface="IBM Plex Sans"/>
                <a:ea typeface="IBM Plex Sans"/>
                <a:cs typeface="IBM Plex Sans"/>
                <a:sym typeface="IBM Plex Sans"/>
              </a:rPr>
              <a:t>, not just scaffolded.</a:t>
            </a:r>
            <a:endParaRPr/>
          </a:p>
        </p:txBody>
      </p:sp>
      <p:cxnSp>
        <p:nvCxnSpPr>
          <p:cNvPr id="289" name="Google Shape;289;p22"/>
          <p:cNvCxnSpPr/>
          <p:nvPr/>
        </p:nvCxnSpPr>
        <p:spPr>
          <a:xfrm>
            <a:off x="502920" y="6291072"/>
            <a:ext cx="111831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833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22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›  </a:t>
            </a:r>
            <a:r>
              <a:rPr b="0" i="0" lang="en-US" sz="1100" u="none" cap="none" strike="noStrike">
                <a:solidFill>
                  <a:srgbClr val="A6A09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Prompt-as-environment + symbolic recursion = a new axis of inference-time scaling, beyond context windows.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